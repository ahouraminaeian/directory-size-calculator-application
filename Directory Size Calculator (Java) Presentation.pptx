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Corbel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rbel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Corbel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Corbel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Corbel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0586f5623_2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b0586f5623_2_7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0586f5623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b0586f5623_2_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0586f5623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b0586f5623_2_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0586f5623_2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b0586f5623_2_9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0586f5623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b0586f5623_2_10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0586f562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b0586f5623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0586f562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b0586f5623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0586f562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b0586f5623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0586f562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b0586f5623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0586f562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b0586f5623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0" y="571499"/>
            <a:ext cx="6856214" cy="40005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6952697" y="571499"/>
            <a:ext cx="2193988" cy="4000501"/>
          </a:xfrm>
          <a:prstGeom prst="rect">
            <a:avLst/>
          </a:prstGeom>
          <a:solidFill>
            <a:srgbClr val="C8C8C8">
              <a:alpha val="4980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type="ctrTitle"/>
          </p:nvPr>
        </p:nvSpPr>
        <p:spPr>
          <a:xfrm>
            <a:off x="802386" y="973836"/>
            <a:ext cx="5486400" cy="244144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orbel"/>
              <a:buNone/>
              <a:defRPr sz="4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825011" y="3502685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700"/>
              <a:buNone/>
              <a:defRPr sz="1700" cap="none">
                <a:solidFill>
                  <a:srgbClr val="D7F0F6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63" name="Google Shape;63;p14"/>
          <p:cNvSpPr txBox="1"/>
          <p:nvPr>
            <p:ph idx="10" type="dt"/>
          </p:nvPr>
        </p:nvSpPr>
        <p:spPr>
          <a:xfrm>
            <a:off x="196849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1" type="ftr"/>
          </p:nvPr>
        </p:nvSpPr>
        <p:spPr>
          <a:xfrm>
            <a:off x="2901951" y="4767263"/>
            <a:ext cx="443363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7975601" y="4767263"/>
            <a:ext cx="11481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189689" y="842878"/>
            <a:ext cx="2210612" cy="345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2901951" y="648081"/>
            <a:ext cx="54864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6pPr>
            <a:lvl7pPr indent="-317500" lvl="6" marL="3200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8pPr>
            <a:lvl9pPr indent="-317500" lvl="8" marL="411480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1400"/>
              <a:buChar char="●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196849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2901951" y="4767263"/>
            <a:ext cx="443363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7975601" y="4767263"/>
            <a:ext cx="11481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189689" y="842878"/>
            <a:ext cx="2210612" cy="345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2900934" y="651510"/>
            <a:ext cx="26060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●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5pPr>
            <a:lvl6pPr indent="-29845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6pPr>
            <a:lvl7pPr indent="-298450" lvl="6" marL="3200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8pPr>
            <a:lvl9pPr indent="-298450" lvl="8" marL="411480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1100"/>
              <a:buChar char="●"/>
              <a:defRPr sz="1100"/>
            </a:lvl9pPr>
          </a:lstStyle>
          <a:p/>
        </p:txBody>
      </p:sp>
      <p:sp>
        <p:nvSpPr>
          <p:cNvPr id="75" name="Google Shape;75;p16"/>
          <p:cNvSpPr txBox="1"/>
          <p:nvPr>
            <p:ph idx="2" type="body"/>
          </p:nvPr>
        </p:nvSpPr>
        <p:spPr>
          <a:xfrm>
            <a:off x="5863590" y="651510"/>
            <a:ext cx="26060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●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5pPr>
            <a:lvl6pPr indent="-29845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6pPr>
            <a:lvl7pPr indent="-298450" lvl="6" marL="3200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8pPr>
            <a:lvl9pPr indent="-298450" lvl="8" marL="411480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1100"/>
              <a:buChar char="●"/>
              <a:defRPr sz="1100"/>
            </a:lvl9pPr>
          </a:lstStyle>
          <a:p/>
        </p:txBody>
      </p:sp>
      <p:sp>
        <p:nvSpPr>
          <p:cNvPr id="76" name="Google Shape;76;p16"/>
          <p:cNvSpPr txBox="1"/>
          <p:nvPr>
            <p:ph idx="10" type="dt"/>
          </p:nvPr>
        </p:nvSpPr>
        <p:spPr>
          <a:xfrm>
            <a:off x="196849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1" type="ftr"/>
          </p:nvPr>
        </p:nvSpPr>
        <p:spPr>
          <a:xfrm>
            <a:off x="2901951" y="4767263"/>
            <a:ext cx="443363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7975601" y="4767263"/>
            <a:ext cx="11481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2900934" y="973836"/>
            <a:ext cx="5486400" cy="244144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Corbel"/>
              <a:buNone/>
              <a:defRPr b="0" sz="4400">
                <a:solidFill>
                  <a:srgbClr val="59595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2914650" y="3504438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700"/>
              <a:buNone/>
              <a:defRPr sz="1700" cap="none">
                <a:solidFill>
                  <a:srgbClr val="595959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10" type="dt"/>
          </p:nvPr>
        </p:nvSpPr>
        <p:spPr>
          <a:xfrm>
            <a:off x="196849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1" type="ftr"/>
          </p:nvPr>
        </p:nvSpPr>
        <p:spPr>
          <a:xfrm>
            <a:off x="2901951" y="4767263"/>
            <a:ext cx="443363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7975601" y="4767263"/>
            <a:ext cx="11481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189689" y="842878"/>
            <a:ext cx="2210612" cy="345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2900934" y="767690"/>
            <a:ext cx="2606040" cy="60579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500">
                <a:solidFill>
                  <a:srgbClr val="595959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8"/>
          <p:cNvSpPr txBox="1"/>
          <p:nvPr>
            <p:ph idx="2" type="body"/>
          </p:nvPr>
        </p:nvSpPr>
        <p:spPr>
          <a:xfrm>
            <a:off x="2900934" y="1448202"/>
            <a:ext cx="260604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●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5pPr>
            <a:lvl6pPr indent="-29845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6pPr>
            <a:lvl7pPr indent="-298450" lvl="6" marL="3200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8pPr>
            <a:lvl9pPr indent="-298450" lvl="8" marL="411480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1100"/>
              <a:buChar char="●"/>
              <a:defRPr sz="1100"/>
            </a:lvl9pPr>
          </a:lstStyle>
          <a:p/>
        </p:txBody>
      </p:sp>
      <p:sp>
        <p:nvSpPr>
          <p:cNvPr id="89" name="Google Shape;89;p18"/>
          <p:cNvSpPr txBox="1"/>
          <p:nvPr>
            <p:ph idx="3" type="body"/>
          </p:nvPr>
        </p:nvSpPr>
        <p:spPr>
          <a:xfrm>
            <a:off x="5863847" y="767690"/>
            <a:ext cx="2606040" cy="60987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1500">
                <a:solidFill>
                  <a:srgbClr val="595959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8"/>
          <p:cNvSpPr txBox="1"/>
          <p:nvPr>
            <p:ph idx="4" type="body"/>
          </p:nvPr>
        </p:nvSpPr>
        <p:spPr>
          <a:xfrm>
            <a:off x="5863847" y="1448202"/>
            <a:ext cx="260604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●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5pPr>
            <a:lvl6pPr indent="-29845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6pPr>
            <a:lvl7pPr indent="-298450" lvl="6" marL="3200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8pPr>
            <a:lvl9pPr indent="-298450" lvl="8" marL="411480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1100"/>
              <a:buChar char="●"/>
              <a:defRPr sz="1100"/>
            </a:lvl9pPr>
          </a:lstStyle>
          <a:p/>
        </p:txBody>
      </p:sp>
      <p:sp>
        <p:nvSpPr>
          <p:cNvPr id="91" name="Google Shape;91;p18"/>
          <p:cNvSpPr txBox="1"/>
          <p:nvPr>
            <p:ph idx="10" type="dt"/>
          </p:nvPr>
        </p:nvSpPr>
        <p:spPr>
          <a:xfrm>
            <a:off x="196849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1" type="ftr"/>
          </p:nvPr>
        </p:nvSpPr>
        <p:spPr>
          <a:xfrm>
            <a:off x="2901951" y="4767263"/>
            <a:ext cx="443363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7975601" y="4767263"/>
            <a:ext cx="11481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189689" y="842878"/>
            <a:ext cx="2210612" cy="345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10" type="dt"/>
          </p:nvPr>
        </p:nvSpPr>
        <p:spPr>
          <a:xfrm>
            <a:off x="196849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1" type="ftr"/>
          </p:nvPr>
        </p:nvSpPr>
        <p:spPr>
          <a:xfrm>
            <a:off x="2901951" y="4767263"/>
            <a:ext cx="443363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7975601" y="4767263"/>
            <a:ext cx="11481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idx="10" type="dt"/>
          </p:nvPr>
        </p:nvSpPr>
        <p:spPr>
          <a:xfrm>
            <a:off x="196849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11" type="ftr"/>
          </p:nvPr>
        </p:nvSpPr>
        <p:spPr>
          <a:xfrm>
            <a:off x="2901951" y="4767263"/>
            <a:ext cx="443363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0"/>
          <p:cNvSpPr txBox="1"/>
          <p:nvPr>
            <p:ph idx="12" type="sldNum"/>
          </p:nvPr>
        </p:nvSpPr>
        <p:spPr>
          <a:xfrm>
            <a:off x="7975601" y="4767263"/>
            <a:ext cx="11481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192024" y="857250"/>
            <a:ext cx="212598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rbel"/>
              <a:buNone/>
              <a:defRPr b="0"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2900934" y="651510"/>
            <a:ext cx="54864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●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5pPr>
            <a:lvl6pPr indent="-29845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6pPr>
            <a:lvl7pPr indent="-298450" lvl="6" marL="3200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8pPr>
            <a:lvl9pPr indent="-298450" lvl="8" marL="411480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1100"/>
              <a:buChar char="●"/>
              <a:defRPr sz="1100"/>
            </a:lvl9pPr>
          </a:lstStyle>
          <a:p/>
        </p:txBody>
      </p:sp>
      <p:sp>
        <p:nvSpPr>
          <p:cNvPr id="106" name="Google Shape;106;p21"/>
          <p:cNvSpPr txBox="1"/>
          <p:nvPr>
            <p:ph idx="2" type="body"/>
          </p:nvPr>
        </p:nvSpPr>
        <p:spPr>
          <a:xfrm>
            <a:off x="192024" y="2620632"/>
            <a:ext cx="2125980" cy="174149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07" name="Google Shape;107;p21"/>
          <p:cNvSpPr txBox="1"/>
          <p:nvPr>
            <p:ph idx="10" type="dt"/>
          </p:nvPr>
        </p:nvSpPr>
        <p:spPr>
          <a:xfrm>
            <a:off x="196849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1"/>
          <p:cNvSpPr txBox="1"/>
          <p:nvPr>
            <p:ph idx="11" type="ftr"/>
          </p:nvPr>
        </p:nvSpPr>
        <p:spPr>
          <a:xfrm>
            <a:off x="2901951" y="4767263"/>
            <a:ext cx="443363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7975601" y="4767263"/>
            <a:ext cx="11481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192024" y="857250"/>
            <a:ext cx="212598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rbel"/>
              <a:buNone/>
              <a:defRPr b="0"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/>
          <p:nvPr>
            <p:ph idx="2" type="pic"/>
          </p:nvPr>
        </p:nvSpPr>
        <p:spPr>
          <a:xfrm>
            <a:off x="2677983" y="575564"/>
            <a:ext cx="6086423" cy="3998214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192024" y="2619756"/>
            <a:ext cx="2125980" cy="17419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14" name="Google Shape;114;p22"/>
          <p:cNvSpPr txBox="1"/>
          <p:nvPr>
            <p:ph idx="10" type="dt"/>
          </p:nvPr>
        </p:nvSpPr>
        <p:spPr>
          <a:xfrm>
            <a:off x="196849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idx="11" type="ftr"/>
          </p:nvPr>
        </p:nvSpPr>
        <p:spPr>
          <a:xfrm>
            <a:off x="2624326" y="4767263"/>
            <a:ext cx="443363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2" type="sldNum"/>
          </p:nvPr>
        </p:nvSpPr>
        <p:spPr>
          <a:xfrm>
            <a:off x="7975601" y="4767263"/>
            <a:ext cx="11481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189689" y="842878"/>
            <a:ext cx="2210612" cy="345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 rot="5400000">
            <a:off x="3724911" y="-174879"/>
            <a:ext cx="384048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6pPr>
            <a:lvl7pPr indent="-317500" lvl="6" marL="3200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8pPr>
            <a:lvl9pPr indent="-317500" lvl="8" marL="411480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1400"/>
              <a:buChar char="●"/>
              <a:defRPr/>
            </a:lvl9pPr>
          </a:lstStyle>
          <a:p/>
        </p:txBody>
      </p:sp>
      <p:sp>
        <p:nvSpPr>
          <p:cNvPr id="120" name="Google Shape;120;p23"/>
          <p:cNvSpPr txBox="1"/>
          <p:nvPr>
            <p:ph idx="10" type="dt"/>
          </p:nvPr>
        </p:nvSpPr>
        <p:spPr>
          <a:xfrm>
            <a:off x="196849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3"/>
          <p:cNvSpPr txBox="1"/>
          <p:nvPr>
            <p:ph idx="11" type="ftr"/>
          </p:nvPr>
        </p:nvSpPr>
        <p:spPr>
          <a:xfrm>
            <a:off x="2901951" y="4767263"/>
            <a:ext cx="443363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12" type="sldNum"/>
          </p:nvPr>
        </p:nvSpPr>
        <p:spPr>
          <a:xfrm>
            <a:off x="7975601" y="4767263"/>
            <a:ext cx="11481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 rot="5400000">
            <a:off x="-514350" y="1543050"/>
            <a:ext cx="3714750" cy="2114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 rot="5400000">
            <a:off x="3723894" y="-171450"/>
            <a:ext cx="384048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3pPr>
            <a:lvl4pPr indent="-317500" lvl="3" marL="1828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6pPr>
            <a:lvl7pPr indent="-317500" lvl="6" marL="3200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8pPr>
            <a:lvl9pPr indent="-317500" lvl="8" marL="411480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1400"/>
              <a:buChar char="●"/>
              <a:defRPr/>
            </a:lvl9pPr>
          </a:lstStyle>
          <a:p/>
        </p:txBody>
      </p:sp>
      <p:sp>
        <p:nvSpPr>
          <p:cNvPr id="126" name="Google Shape;126;p24"/>
          <p:cNvSpPr txBox="1"/>
          <p:nvPr>
            <p:ph idx="10" type="dt"/>
          </p:nvPr>
        </p:nvSpPr>
        <p:spPr>
          <a:xfrm>
            <a:off x="196849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4"/>
          <p:cNvSpPr txBox="1"/>
          <p:nvPr>
            <p:ph idx="11" type="ftr"/>
          </p:nvPr>
        </p:nvSpPr>
        <p:spPr>
          <a:xfrm>
            <a:off x="2901951" y="4767263"/>
            <a:ext cx="443363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4"/>
          <p:cNvSpPr txBox="1"/>
          <p:nvPr>
            <p:ph idx="12" type="sldNum"/>
          </p:nvPr>
        </p:nvSpPr>
        <p:spPr>
          <a:xfrm>
            <a:off x="7975601" y="4767263"/>
            <a:ext cx="11481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" y="569214"/>
            <a:ext cx="2582693" cy="39982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189689" y="842878"/>
            <a:ext cx="2210612" cy="345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orbel"/>
              <a:buNone/>
              <a:defRPr b="0" i="0" sz="2700" u="none" cap="none" strike="noStrike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3" name="Google Shape;53;p13"/>
          <p:cNvSpPr/>
          <p:nvPr/>
        </p:nvSpPr>
        <p:spPr>
          <a:xfrm>
            <a:off x="8861898" y="569214"/>
            <a:ext cx="288036" cy="3998214"/>
          </a:xfrm>
          <a:prstGeom prst="rect">
            <a:avLst/>
          </a:prstGeom>
          <a:solidFill>
            <a:srgbClr val="C8C8C8">
              <a:alpha val="49803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2901951" y="648081"/>
            <a:ext cx="54864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●"/>
              <a:defRPr b="0" i="0" sz="1200" u="none" cap="none" strike="noStrik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●"/>
              <a:defRPr b="0" i="0" sz="1100" u="none" cap="none" strike="noStrik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●"/>
              <a:defRPr b="0" i="0" sz="1100" u="none" cap="none" strike="noStrik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298450" lvl="5" marL="27432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●"/>
              <a:defRPr b="0" i="0" sz="1100" u="none" cap="none" strike="noStrik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298450" lvl="6" marL="3200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●"/>
              <a:defRPr b="0" i="0" sz="1100" u="none" cap="none" strike="noStrik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298450" lvl="7" marL="36576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●"/>
              <a:defRPr b="0" i="0" sz="1100" u="none" cap="none" strike="noStrik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298450" lvl="8" marL="4114800" marR="0" rtl="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100"/>
              <a:buFont typeface="Noto Sans Symbols"/>
              <a:buChar char="●"/>
              <a:defRPr b="0" i="0" sz="1100" u="none" cap="none" strike="noStrike">
                <a:solidFill>
                  <a:srgbClr val="595959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196849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7F7F7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2901951" y="4767263"/>
            <a:ext cx="443363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7F7F7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7975601" y="4767263"/>
            <a:ext cx="11481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ctrTitle"/>
          </p:nvPr>
        </p:nvSpPr>
        <p:spPr>
          <a:xfrm>
            <a:off x="382425" y="2341150"/>
            <a:ext cx="5867100" cy="191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orbel"/>
              <a:buNone/>
            </a:pPr>
            <a:r>
              <a:rPr b="1" lang="en"/>
              <a:t>Directory Size Calculator Application</a:t>
            </a:r>
            <a:endParaRPr b="1"/>
          </a:p>
        </p:txBody>
      </p:sp>
      <p:sp>
        <p:nvSpPr>
          <p:cNvPr id="134" name="Google Shape;134;p25"/>
          <p:cNvSpPr txBox="1"/>
          <p:nvPr>
            <p:ph idx="1" type="subTitle"/>
          </p:nvPr>
        </p:nvSpPr>
        <p:spPr>
          <a:xfrm>
            <a:off x="4849554" y="4224624"/>
            <a:ext cx="23622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/>
              <a:t>By: Ahoura Minaeian</a:t>
            </a:r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7425" y="809000"/>
            <a:ext cx="3484125" cy="3211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62800" y="842875"/>
            <a:ext cx="2037300" cy="34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orbel"/>
              <a:buNone/>
            </a:pPr>
            <a:r>
              <a:rPr b="1" lang="en"/>
              <a:t>Table of Contents</a:t>
            </a:r>
            <a:endParaRPr b="1"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2901951" y="648081"/>
            <a:ext cx="54864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-133350" lvl="0" marL="139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OBJECTIVE</a:t>
            </a:r>
            <a:endParaRPr/>
          </a:p>
          <a:p>
            <a:pPr indent="-13335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APPROACH &amp; DESIGN</a:t>
            </a:r>
            <a:endParaRPr/>
          </a:p>
          <a:p>
            <a:pPr indent="-13335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KEY FILES &amp; FOLDERS</a:t>
            </a:r>
            <a:endParaRPr/>
          </a:p>
          <a:p>
            <a:pPr indent="-13335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PROCESS TO RUN, TEST, &amp; VERIFY</a:t>
            </a:r>
            <a:endParaRPr/>
          </a:p>
          <a:p>
            <a:pPr indent="-13335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TEST/SEED DATA &amp; VERIFICATION</a:t>
            </a:r>
            <a:endParaRPr/>
          </a:p>
          <a:p>
            <a:pPr indent="-13335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FUTURE ADDITIONS &amp; IMPROVEMENTS</a:t>
            </a:r>
            <a:endParaRPr/>
          </a:p>
        </p:txBody>
      </p:sp>
      <p:pic>
        <p:nvPicPr>
          <p:cNvPr id="142" name="Google Shape;142;p26"/>
          <p:cNvPicPr preferRelativeResize="0"/>
          <p:nvPr/>
        </p:nvPicPr>
        <p:blipFill rotWithShape="1">
          <a:blip r:embed="rId3">
            <a:alphaModFix amt="30000"/>
          </a:blip>
          <a:srcRect b="0" l="0" r="0" t="0"/>
          <a:stretch/>
        </p:blipFill>
        <p:spPr>
          <a:xfrm>
            <a:off x="6269050" y="1487050"/>
            <a:ext cx="3867350" cy="3564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408575" y="842875"/>
            <a:ext cx="1991700" cy="34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orbel"/>
              <a:buNone/>
            </a:pPr>
            <a:r>
              <a:rPr b="1" lang="en"/>
              <a:t>Objective</a:t>
            </a:r>
            <a:endParaRPr b="1"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2900934" y="651510"/>
            <a:ext cx="26060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-133350" lvl="0" marL="139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 To create an application that simulates a file system with a hierarchical structure of directories (folders) containing files.</a:t>
            </a:r>
            <a:endParaRPr/>
          </a:p>
          <a:p>
            <a:pPr indent="-13335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For each file to have a size attribute. </a:t>
            </a:r>
            <a:endParaRPr/>
          </a:p>
        </p:txBody>
      </p:sp>
      <p:sp>
        <p:nvSpPr>
          <p:cNvPr id="149" name="Google Shape;149;p27"/>
          <p:cNvSpPr txBox="1"/>
          <p:nvPr>
            <p:ph idx="2" type="body"/>
          </p:nvPr>
        </p:nvSpPr>
        <p:spPr>
          <a:xfrm>
            <a:off x="5863590" y="651510"/>
            <a:ext cx="26060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-133350" lvl="0" marL="139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Data to be kept in memory or in file</a:t>
            </a:r>
            <a:endParaRPr/>
          </a:p>
          <a:p>
            <a:pPr indent="-13335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Application to support the following basic commands:</a:t>
            </a:r>
            <a:endParaRPr/>
          </a:p>
          <a:p>
            <a:pPr indent="-152400" lvl="1" marL="5207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cd</a:t>
            </a:r>
            <a:endParaRPr/>
          </a:p>
          <a:p>
            <a:pPr indent="-1524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ls</a:t>
            </a:r>
            <a:endParaRPr/>
          </a:p>
          <a:p>
            <a:pPr indent="-1524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Size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447825" y="842875"/>
            <a:ext cx="1952400" cy="34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orbel"/>
              <a:buNone/>
            </a:pPr>
            <a:r>
              <a:rPr b="1" lang="en"/>
              <a:t>Objective Cont.</a:t>
            </a:r>
            <a:endParaRPr b="1"/>
          </a:p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2901950" y="648081"/>
            <a:ext cx="5818351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-133350" lvl="0" marL="139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cd – Change Directory</a:t>
            </a:r>
            <a:endParaRPr/>
          </a:p>
          <a:p>
            <a:pPr indent="-152400" lvl="1" marL="5207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Navigate through directories (current to new)</a:t>
            </a:r>
            <a:endParaRPr/>
          </a:p>
          <a:p>
            <a:pPr indent="-133350" lvl="0" marL="1397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ls – List Directory Content</a:t>
            </a:r>
            <a:endParaRPr/>
          </a:p>
          <a:p>
            <a:pPr indent="-152400" lvl="1" marL="5207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List and display names, file sizes, and folders within a directory</a:t>
            </a:r>
            <a:endParaRPr/>
          </a:p>
          <a:p>
            <a:pPr indent="-133350" lvl="0" marL="1397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Size - Calculate the total size of the current directory, covering all the files in the directory and its subdirectories</a:t>
            </a:r>
            <a:endParaRPr/>
          </a:p>
          <a:p>
            <a:pPr indent="-152400" lvl="1" marL="5207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Recursion to be used to calculate the size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313964" y="846303"/>
            <a:ext cx="2210700" cy="34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orbel"/>
              <a:buNone/>
            </a:pPr>
            <a:r>
              <a:rPr b="1" lang="en"/>
              <a:t>Approach &amp; Design</a:t>
            </a:r>
            <a:endParaRPr b="1"/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2901950" y="2788825"/>
            <a:ext cx="5486400" cy="16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Coded in Java (Apache NetBeans (JDK25))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Used OOP principles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Implemented an abstract base class (FileSystemItem) to represent shared behavior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Used inheritance and polymorphism to distinguish between files and directories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Applied recursion to compute directory sizes efficiently</a:t>
            </a:r>
            <a:endParaRPr/>
          </a:p>
        </p:txBody>
      </p:sp>
      <p:pic>
        <p:nvPicPr>
          <p:cNvPr id="162" name="Google Shape;162;p29" title="rec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1600" y="367525"/>
            <a:ext cx="3040800" cy="163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9" title="Rec2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3425" y="1918450"/>
            <a:ext cx="4709150" cy="87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type="title"/>
          </p:nvPr>
        </p:nvSpPr>
        <p:spPr>
          <a:xfrm>
            <a:off x="343175" y="842875"/>
            <a:ext cx="2057400" cy="34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orbel"/>
              <a:buNone/>
            </a:pPr>
            <a:r>
              <a:rPr b="1" lang="en"/>
              <a:t>Key Files &amp; Folders</a:t>
            </a:r>
            <a:endParaRPr b="1"/>
          </a:p>
        </p:txBody>
      </p:sp>
      <p:sp>
        <p:nvSpPr>
          <p:cNvPr id="169" name="Google Shape;169;p30"/>
          <p:cNvSpPr txBox="1"/>
          <p:nvPr>
            <p:ph idx="1" type="body"/>
          </p:nvPr>
        </p:nvSpPr>
        <p:spPr>
          <a:xfrm>
            <a:off x="2901950" y="2428800"/>
            <a:ext cx="5486400" cy="20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DirectorySizeCalculator.java – Main driver program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Directory.java – Represents directories that contain files or subdirectories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File.java – Represents files with fixed sizes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FileSystemItem.java – Abstract base class for file system objects</a:t>
            </a:r>
            <a:endParaRPr/>
          </a:p>
        </p:txBody>
      </p:sp>
      <p:pic>
        <p:nvPicPr>
          <p:cNvPr id="170" name="Google Shape;170;p30" title="KF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8453" y="928700"/>
            <a:ext cx="4893400" cy="16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>
            <p:ph type="title"/>
          </p:nvPr>
        </p:nvSpPr>
        <p:spPr>
          <a:xfrm>
            <a:off x="268164" y="846303"/>
            <a:ext cx="2210700" cy="34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orbel"/>
              <a:buNone/>
            </a:pPr>
            <a:r>
              <a:rPr b="1" lang="en"/>
              <a:t>Process to Run, Test, &amp; Verify</a:t>
            </a:r>
            <a:endParaRPr b="1"/>
          </a:p>
        </p:txBody>
      </p:sp>
      <p:sp>
        <p:nvSpPr>
          <p:cNvPr id="176" name="Google Shape;176;p31"/>
          <p:cNvSpPr txBox="1"/>
          <p:nvPr>
            <p:ph idx="1" type="body"/>
          </p:nvPr>
        </p:nvSpPr>
        <p:spPr>
          <a:xfrm>
            <a:off x="2901950" y="2623150"/>
            <a:ext cx="5486400" cy="18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Compile all Java files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Run DirectorySizeCalculator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program initializes sample data and outputs the total directory size</a:t>
            </a:r>
            <a:endParaRPr/>
          </a:p>
        </p:txBody>
      </p:sp>
      <p:pic>
        <p:nvPicPr>
          <p:cNvPr id="177" name="Google Shape;17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1814" y="732950"/>
            <a:ext cx="3000375" cy="17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133875" y="846300"/>
            <a:ext cx="2505000" cy="34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orbel"/>
              <a:buNone/>
            </a:pPr>
            <a:r>
              <a:rPr b="1" lang="en"/>
              <a:t>Test/Seed Data &amp; Verification</a:t>
            </a:r>
            <a:endParaRPr b="1"/>
          </a:p>
        </p:txBody>
      </p:sp>
      <p:sp>
        <p:nvSpPr>
          <p:cNvPr id="183" name="Google Shape;183;p32"/>
          <p:cNvSpPr txBox="1"/>
          <p:nvPr>
            <p:ph idx="1" type="body"/>
          </p:nvPr>
        </p:nvSpPr>
        <p:spPr>
          <a:xfrm>
            <a:off x="2901950" y="2635500"/>
            <a:ext cx="5486400" cy="18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Test data is seeded directly in the main method with sample files and nested directories.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output verifies correct recursive size calculation across nested directory structures.</a:t>
            </a:r>
            <a:endParaRPr/>
          </a:p>
        </p:txBody>
      </p:sp>
      <p:sp>
        <p:nvSpPr>
          <p:cNvPr id="184" name="Google Shape;184;p32"/>
          <p:cNvSpPr txBox="1"/>
          <p:nvPr/>
        </p:nvSpPr>
        <p:spPr>
          <a:xfrm>
            <a:off x="3908450" y="532450"/>
            <a:ext cx="3473400" cy="24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root/ (29184 bytes total)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├── readme.txt (1024 bytes)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├── documents/ (9728 bytes total)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│   ├── report.pdf (2048 bytes)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│   ├── notes.txt (512 bytes)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│   └── projects/ (7168 bytes total)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│       ├── project1.java (3072 bytes)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│       └── project2.java (4096 bytes)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└── images/ (18432 bytes total)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    ├── photo1.jpg (10240 bytes)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    └── photo2.png (8192 bytes)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/>
          <p:nvPr>
            <p:ph type="title"/>
          </p:nvPr>
        </p:nvSpPr>
        <p:spPr>
          <a:xfrm>
            <a:off x="146950" y="846300"/>
            <a:ext cx="2367600" cy="34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orbel"/>
              <a:buNone/>
            </a:pPr>
            <a:r>
              <a:rPr b="1" lang="en"/>
              <a:t>Future Additions &amp; Improvements</a:t>
            </a:r>
            <a:endParaRPr b="1"/>
          </a:p>
        </p:txBody>
      </p:sp>
      <p:sp>
        <p:nvSpPr>
          <p:cNvPr id="190" name="Google Shape;190;p33"/>
          <p:cNvSpPr txBox="1"/>
          <p:nvPr>
            <p:ph idx="1" type="body"/>
          </p:nvPr>
        </p:nvSpPr>
        <p:spPr>
          <a:xfrm>
            <a:off x="2901951" y="648081"/>
            <a:ext cx="5486400" cy="3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Upscale the size of the total directory</a:t>
            </a:r>
            <a:endParaRPr/>
          </a:p>
          <a:p>
            <a:pPr indent="-3175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files/subfiles/lists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Add more commands </a:t>
            </a:r>
            <a:endParaRPr/>
          </a:p>
          <a:p>
            <a:pPr indent="-3175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Easier traversal of the directories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Optimization</a:t>
            </a:r>
            <a:endParaRPr/>
          </a:p>
          <a:p>
            <a:pPr indent="-3175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 the code cleaner and easier to read and use faster methods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4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498175" y="842884"/>
            <a:ext cx="3851424" cy="354986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4"/>
          <p:cNvSpPr txBox="1"/>
          <p:nvPr>
            <p:ph type="title"/>
          </p:nvPr>
        </p:nvSpPr>
        <p:spPr>
          <a:xfrm>
            <a:off x="199275" y="846300"/>
            <a:ext cx="2161800" cy="34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orbel"/>
              <a:buNone/>
            </a:pPr>
            <a:r>
              <a:rPr b="1" lang="en"/>
              <a:t>THANK YOU!</a:t>
            </a:r>
            <a:endParaRPr b="1"/>
          </a:p>
        </p:txBody>
      </p:sp>
      <p:sp>
        <p:nvSpPr>
          <p:cNvPr id="197" name="Google Shape;197;p34"/>
          <p:cNvSpPr txBox="1"/>
          <p:nvPr>
            <p:ph idx="1" type="body"/>
          </p:nvPr>
        </p:nvSpPr>
        <p:spPr>
          <a:xfrm>
            <a:off x="2901951" y="648081"/>
            <a:ext cx="5486400" cy="3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have any questions or want me to walk through any part of the project, please DO hesitate to ask (JK ask away). 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&amp; have a great rest of your day!</a:t>
            </a:r>
            <a:endParaRPr/>
          </a:p>
        </p:txBody>
      </p:sp>
      <p:pic>
        <p:nvPicPr>
          <p:cNvPr id="198" name="Google Shape;198;p34" title="Capgemini_201x_logo.svg.png"/>
          <p:cNvPicPr preferRelativeResize="0"/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7237075" y="4134450"/>
            <a:ext cx="1517676" cy="35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